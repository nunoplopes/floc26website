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6"/>
  </p:notesMasterIdLst>
  <p:sldIdLst>
    <p:sldId id="256" r:id="rId3"/>
    <p:sldId id="888" r:id="rId4"/>
    <p:sldId id="314" r:id="rId5"/>
    <p:sldId id="283" r:id="rId6"/>
    <p:sldId id="284" r:id="rId7"/>
    <p:sldId id="285" r:id="rId8"/>
    <p:sldId id="310" r:id="rId9"/>
    <p:sldId id="311" r:id="rId10"/>
    <p:sldId id="312" r:id="rId11"/>
    <p:sldId id="889" r:id="rId12"/>
    <p:sldId id="294" r:id="rId13"/>
    <p:sldId id="313" r:id="rId14"/>
    <p:sldId id="300" r:id="rId15"/>
    <p:sldId id="301" r:id="rId16"/>
    <p:sldId id="302" r:id="rId17"/>
    <p:sldId id="303" r:id="rId18"/>
    <p:sldId id="304" r:id="rId19"/>
    <p:sldId id="306" r:id="rId20"/>
    <p:sldId id="272" r:id="rId21"/>
    <p:sldId id="276" r:id="rId22"/>
    <p:sldId id="279" r:id="rId23"/>
    <p:sldId id="308" r:id="rId24"/>
    <p:sldId id="282" r:id="rId25"/>
  </p:sldIdLst>
  <p:sldSz cx="12192000" cy="6858000"/>
  <p:notesSz cx="7010400" cy="929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9977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8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5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091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minutes. The whole talk is about one object: the invariant. Three eras, three answers to who supplies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linger. The point is only: one road restricts the problem, the other keeps it and buys a better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.   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"The predicate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uninterpreted, but the constraint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𝜑</m:t>
                    </m:r>
                  </m:oMath>
                </a14:m>
                <a:r>
                  <a:rPr lang="en-US" dirty="0"/>
                  <a:t> already has a meaning. That meaning is provided by a background theory."</a:t>
                </a:r>
                <a:endParaRPr lang="en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:r>
                  <a:rPr lang="en-US" sz="1200" b="0" i="0">
                    <a:latin typeface="Cambria Math" panose="02040503050406030204" pitchFamily="18" charset="0"/>
                  </a:rPr>
                  <a:t>∀𝑥,𝑦,𝑧.   𝑝_3 </a:t>
                </a:r>
                <a:r>
                  <a:rPr lang="en-US" sz="1200" i="0">
                    <a:latin typeface="Cambria Math" panose="02040503050406030204" pitchFamily="18" charset="0"/>
                  </a:rPr>
                  <a:t>(𝑥,𝑧)→𝑥≤𝑧</a:t>
                </a:r>
                <a:endParaRPr lang="en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1996EB-4D3B-4D61-B2C3-26962135A0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462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derivation corresponds to an execution of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1996EB-4D3B-4D61-B2C3-26962135A0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12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75DB-018D-EA5D-BBC6-F649F6BD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3E3A8-72B1-EC9C-BA5D-4CF6D1373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D2C43-F4E1-72F5-69C4-6BA63717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F1178-46A3-FFAE-5FB5-AD7C1FD9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1996EB-4D3B-4D61-B2C3-26962135A0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543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proper has ended. This is an appendix — drop it entirely if you are short of time. Nothing earlier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7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GB" dirty="0"/>
              <a:t>Click to edit Subsection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EE5C-2C7B-C443-918D-BD4E0D70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/>
              <a:t>Chapter 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6568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58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2AD8-B8CA-9649-8CF1-1B184F5F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C325-CE1F-0948-BD6F-C86336678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8F37F-6DDF-7347-BFE7-8C96CBAB5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1F288-355C-124B-9A9D-731CB853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4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A1E6-003D-F042-9995-612D70A1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34635-6191-634F-BC79-803827D18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B411-B241-8B4D-8296-9EABF10D2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90EC6-F0D6-C149-B2E9-4D4092FA2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31D69-486C-B94B-9E64-773D9A1EB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B8901-F3BC-D443-90F9-213AA1E1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4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A247-9709-9449-899C-52091553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B38A8-2811-7D4A-9C67-C5063C13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3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96654-735D-E340-A169-6C2C723A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1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2576-0DAE-AD46-85F1-FCF8D73E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2E9D-848A-004B-8B9C-460388BB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29AF2-1356-B848-A4A2-FD955B20A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8058F-FF27-0147-AADD-0CC162E3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FC22-EBEF-4040-BAE8-F896AC29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8CAF8-5D2E-7845-83F6-BCF24274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1D4A-0A2F-B849-8921-07BD41191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B3800-E015-2640-AF3D-93D08D0D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3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te for the Lecturer">
    <p:bg>
      <p:bgPr>
        <a:solidFill>
          <a:srgbClr val="FFFF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Note for the Lecturer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8169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95F8C-516E-D84E-9AA4-655AE85D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7DA8A-7C69-7346-A2C6-C58069E40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D813-4D44-1C4A-AE6A-0D2173F5F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1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6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Relationship Id="rId1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6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3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Finds the Invariant?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41248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Floyd (1967)  →  Constrained Horn Clauses  →  LLMs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87552" y="3977640"/>
            <a:ext cx="8046720" cy="0"/>
          </a:xfrm>
          <a:prstGeom prst="line">
            <a:avLst/>
          </a:prstGeom>
          <a:noFill/>
          <a:ln w="25400">
            <a:solidFill>
              <a:srgbClr val="3A4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914400" y="390448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it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0" y="390448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84632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 finds it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61120" y="3904488"/>
            <a:ext cx="155448" cy="155448"/>
          </a:xfrm>
          <a:prstGeom prst="ellipse">
            <a:avLst/>
          </a:prstGeom>
          <a:solidFill>
            <a:srgbClr val="5F648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86968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69680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guesser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" y="53492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 Grumberg  ·  Technion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" y="5715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 2026 Mentoring Workshop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48F6-F32D-CD7F-4858-CB5B4B50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A98D-4077-8711-7423-D5630CFFB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GB" dirty="0"/>
            </a:b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rom Program Verification to Constrained Horn Clauses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24D21-DA05-97A1-674D-0995A37CE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dirty="0"/>
              <a:t>Orna Grumberg</a:t>
            </a:r>
          </a:p>
          <a:p>
            <a:r>
              <a:rPr lang="en-US" sz="2800" dirty="0"/>
              <a:t>Technion</a:t>
            </a:r>
          </a:p>
        </p:txBody>
      </p:sp>
    </p:spTree>
    <p:extLst>
      <p:ext uri="{BB962C8B-B14F-4D97-AF65-F5344CB8AC3E}">
        <p14:creationId xmlns:p14="http://schemas.microsoft.com/office/powerpoint/2010/main" val="30301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399D-2793-249C-E2CE-DF876BA33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76D100BC-E58E-03A5-8355-94FDC9A0D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Program Verification 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A74562E-99CD-BC02-8647-A5CB5D92B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dirty="0"/>
              <a:t>Given</a:t>
            </a:r>
            <a:r>
              <a:rPr lang="en-US" altLang="en-US" sz="2400" dirty="0"/>
              <a:t> </a:t>
            </a:r>
          </a:p>
          <a:p>
            <a:pPr eaLnBrk="1" hangingPunct="1"/>
            <a:r>
              <a:rPr lang="en-US" altLang="en-US" sz="2400" dirty="0"/>
              <a:t>a </a:t>
            </a:r>
            <a:r>
              <a:rPr lang="en-US" altLang="en-US" sz="2400" dirty="0">
                <a:solidFill>
                  <a:schemeClr val="accent6"/>
                </a:solidFill>
              </a:rPr>
              <a:t>program</a:t>
            </a:r>
            <a:r>
              <a:rPr lang="en-US" altLang="en-US" sz="2400" dirty="0"/>
              <a:t> and </a:t>
            </a:r>
          </a:p>
          <a:p>
            <a:pPr eaLnBrk="1" hangingPunct="1"/>
            <a:r>
              <a:rPr lang="en-US" altLang="en-US" sz="2400" dirty="0"/>
              <a:t>a formal </a:t>
            </a:r>
            <a:r>
              <a:rPr lang="en-US" altLang="en-US" sz="2400" dirty="0">
                <a:solidFill>
                  <a:schemeClr val="accent6"/>
                </a:solidFill>
              </a:rPr>
              <a:t>specification – a logical formula</a:t>
            </a:r>
          </a:p>
          <a:p>
            <a:pPr eaLnBrk="1" hangingPunct="1">
              <a:buFontTx/>
              <a:buNone/>
            </a:pPr>
            <a:r>
              <a:rPr lang="en-US" altLang="en-US" b="1" dirty="0"/>
              <a:t>does the program satisfy the specification?</a:t>
            </a:r>
          </a:p>
          <a:p>
            <a:pPr eaLnBrk="1" hangingPunct="1"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                     Not decidable!</a:t>
            </a:r>
          </a:p>
          <a:p>
            <a:pPr eaLnBrk="1" hangingPunct="1">
              <a:buFontTx/>
              <a:buNone/>
            </a:pPr>
            <a:endParaRPr lang="en-US" altLang="en-US" b="1" dirty="0">
              <a:solidFill>
                <a:srgbClr val="FF0000"/>
              </a:solidFill>
            </a:endParaRPr>
          </a:p>
          <a:p>
            <a:r>
              <a:rPr lang="en-US" altLang="en-US" dirty="0">
                <a:solidFill>
                  <a:schemeClr val="accent6"/>
                </a:solidFill>
              </a:rPr>
              <a:t>Floyd, Hoare </a:t>
            </a:r>
            <a:r>
              <a:rPr lang="en-US" altLang="en-US" dirty="0"/>
              <a:t>(late 1960’s) suggested </a:t>
            </a:r>
            <a:r>
              <a:rPr lang="en-US" altLang="en-US" dirty="0">
                <a:solidFill>
                  <a:srgbClr val="FF0000"/>
                </a:solidFill>
              </a:rPr>
              <a:t>methods </a:t>
            </a:r>
            <a:r>
              <a:rPr lang="en-US" altLang="en-US" dirty="0"/>
              <a:t>to verify </a:t>
            </a:r>
            <a:br>
              <a:rPr lang="en-US" altLang="en-US" dirty="0"/>
            </a:br>
            <a:r>
              <a:rPr lang="en-US" altLang="en-US" dirty="0"/>
              <a:t>input-output specifications</a:t>
            </a:r>
          </a:p>
          <a:p>
            <a:pPr eaLnBrk="1" hangingPunct="1">
              <a:buFontTx/>
              <a:buNone/>
            </a:pP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2E2C110-0DD3-D96B-71A5-985C61E1935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38199" y="6176963"/>
            <a:ext cx="10141040" cy="544513"/>
          </a:xfrm>
          <a:prstGeom prst="rect">
            <a:avLst/>
          </a:prstGeom>
        </p:spPr>
        <p:txBody>
          <a:bodyPr/>
          <a:lstStyle/>
          <a:p>
            <a:r>
              <a:rPr lang="en-US" i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Undecidable does not mean hopeless — no method is automatic, complete and always terminating.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F9B07BE3-AED7-1A73-8F11-AABF01F8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292929"/>
                </a:solidFill>
                <a:latin typeface="Comic Sans MS" pitchFamily="66" charset="0"/>
                <a:cs typeface="Arial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7887DA-AEFB-444B-91CC-19AC675E1F2C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75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2208-B6D2-4A07-9376-EAFEF360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0632-51EA-4FEC-218D-CD41C198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44CA4-5CD8-4BF8-6A51-55E2B69A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8707628" y="404367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CEF020-CC88-D46D-7DBF-5C88B896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2283197" y="204681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CBCC5F-0CE4-E999-CAAA-16DE29C56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8707628" y="187890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3204FB-5BA6-E12A-9153-D6E0F7130F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2283197" y="403817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8644AD-6547-EF1A-A837-5C3077D418D5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967291" y="3714215"/>
            <a:ext cx="109802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9960AF-0449-E2C6-5484-1EC88E6B34EE}"/>
              </a:ext>
            </a:extLst>
          </p:cNvPr>
          <p:cNvSpPr txBox="1"/>
          <p:nvPr/>
        </p:nvSpPr>
        <p:spPr>
          <a:xfrm>
            <a:off x="2318498" y="317824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Program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51E2AC-6157-1D83-78FA-1D4FDB2A9514}"/>
              </a:ext>
            </a:extLst>
          </p:cNvPr>
          <p:cNvSpPr txBox="1"/>
          <p:nvPr/>
        </p:nvSpPr>
        <p:spPr>
          <a:xfrm>
            <a:off x="2075022" y="534485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1F2DA7-9048-154F-E6D9-3D9612737850}"/>
              </a:ext>
            </a:extLst>
          </p:cNvPr>
          <p:cNvSpPr txBox="1"/>
          <p:nvPr/>
        </p:nvSpPr>
        <p:spPr>
          <a:xfrm>
            <a:off x="8987823" y="318475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CF49AB-9D7F-BDFA-33F5-106F4DA42DDD}"/>
              </a:ext>
            </a:extLst>
          </p:cNvPr>
          <p:cNvSpPr txBox="1"/>
          <p:nvPr/>
        </p:nvSpPr>
        <p:spPr>
          <a:xfrm>
            <a:off x="8954473" y="534659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Buggy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A15194A-ADD1-1B85-3BB6-C1630E7A46EB}"/>
              </a:ext>
            </a:extLst>
          </p:cNvPr>
          <p:cNvSpPr/>
          <p:nvPr/>
        </p:nvSpPr>
        <p:spPr>
          <a:xfrm>
            <a:off x="5065319" y="3124943"/>
            <a:ext cx="2052320" cy="117854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Formal Verifier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D6490AE-5644-B475-E259-0FFC94B66A5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89874" y="2616201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84F3F3-E31F-AF1B-FBC6-DDE916B05F6A}"/>
              </a:ext>
            </a:extLst>
          </p:cNvPr>
          <p:cNvCxnSpPr>
            <a:cxnSpLocks/>
          </p:cNvCxnSpPr>
          <p:nvPr/>
        </p:nvCxnSpPr>
        <p:spPr>
          <a:xfrm>
            <a:off x="3967291" y="260191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5F03066-DD94-0032-EE24-06485AE08574}"/>
              </a:ext>
            </a:extLst>
          </p:cNvPr>
          <p:cNvCxnSpPr>
            <a:cxnSpLocks/>
          </p:cNvCxnSpPr>
          <p:nvPr/>
        </p:nvCxnSpPr>
        <p:spPr>
          <a:xfrm>
            <a:off x="3967291" y="371421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1825B6-E556-1C34-9EDA-75BC93D8835A}"/>
              </a:ext>
            </a:extLst>
          </p:cNvPr>
          <p:cNvCxnSpPr>
            <a:cxnSpLocks/>
          </p:cNvCxnSpPr>
          <p:nvPr/>
        </p:nvCxnSpPr>
        <p:spPr>
          <a:xfrm>
            <a:off x="3589874" y="4827588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1C3942E-21FB-04FA-1292-D07CA47C63E7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7117639" y="3714215"/>
            <a:ext cx="110137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959D7B8-C97B-3A76-8088-694F93E4C082}"/>
              </a:ext>
            </a:extLst>
          </p:cNvPr>
          <p:cNvCxnSpPr>
            <a:cxnSpLocks/>
          </p:cNvCxnSpPr>
          <p:nvPr/>
        </p:nvCxnSpPr>
        <p:spPr>
          <a:xfrm>
            <a:off x="8206313" y="2590697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8DD6152-63C1-5C89-1C13-830A4C54DF97}"/>
              </a:ext>
            </a:extLst>
          </p:cNvPr>
          <p:cNvCxnSpPr>
            <a:cxnSpLocks/>
          </p:cNvCxnSpPr>
          <p:nvPr/>
        </p:nvCxnSpPr>
        <p:spPr>
          <a:xfrm>
            <a:off x="8206313" y="371421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47A73E5-6B51-0B7C-DCB3-76216614FA95}"/>
              </a:ext>
            </a:extLst>
          </p:cNvPr>
          <p:cNvCxnSpPr>
            <a:cxnSpLocks/>
          </p:cNvCxnSpPr>
          <p:nvPr/>
        </p:nvCxnSpPr>
        <p:spPr>
          <a:xfrm flipV="1">
            <a:off x="8193088" y="259069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97211B2-4DB6-E6BE-16E0-69CA102B5F6F}"/>
              </a:ext>
            </a:extLst>
          </p:cNvPr>
          <p:cNvCxnSpPr>
            <a:cxnSpLocks/>
          </p:cNvCxnSpPr>
          <p:nvPr/>
        </p:nvCxnSpPr>
        <p:spPr>
          <a:xfrm>
            <a:off x="8196263" y="484187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96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1E9A-D7E2-07FF-F97A-E8594EE7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4CED-9AA5-43F8-A144-F82DFFE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An Example of Verification Problem 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0349A-1B1C-D47E-EB3C-2593D774F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2566203" y="5856684"/>
            <a:ext cx="582219" cy="50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34E13-AEB5-9C0A-4047-78964B700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r="15450"/>
          <a:stretch>
            <a:fillRect/>
          </a:stretch>
        </p:blipFill>
        <p:spPr>
          <a:xfrm>
            <a:off x="7588923" y="4493988"/>
            <a:ext cx="400396" cy="582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/>
              <p:nvPr/>
            </p:nvSpPr>
            <p:spPr>
              <a:xfrm>
                <a:off x="6618156" y="3346676"/>
                <a:ext cx="3552332" cy="919401"/>
              </a:xfrm>
              <a:prstGeom prst="roundRect">
                <a:avLst/>
              </a:prstGeom>
              <a:solidFill>
                <a:srgbClr val="EFEA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Pre: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x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Post: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56" y="3346676"/>
                <a:ext cx="3552332" cy="919401"/>
              </a:xfrm>
              <a:prstGeom prst="roundRect">
                <a:avLst/>
              </a:prstGeom>
              <a:blipFill>
                <a:blip r:embed="rId4"/>
                <a:stretch>
                  <a:fillRect l="-1375" t="-1987" b="-7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F157D4-C3FC-7D81-C8FE-3DA40BF5E439}"/>
              </a:ext>
            </a:extLst>
          </p:cNvPr>
          <p:cNvSpPr txBox="1"/>
          <p:nvPr/>
        </p:nvSpPr>
        <p:spPr>
          <a:xfrm>
            <a:off x="6228033" y="1690688"/>
            <a:ext cx="43979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Input-output specification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holds at the beginning, then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holds at the end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FF0000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5FDD3-FF27-E4E3-426D-0A13AD013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002" y="1990641"/>
            <a:ext cx="3314244" cy="38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6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8A2E-D8D3-166B-0C5D-027FD0CC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88BD-C6AC-262F-B371-3D3ADB02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E677B6-79F3-9CD8-0B74-C8445D5EBF7F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BFC4A0-1848-4D1F-6867-63461B2B8C0E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C0F115-C4ED-F716-B2DE-5BDFF2C09ADA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F02E76-BC34-E757-4A14-08804A22F39E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F02E76-BC34-E757-4A14-08804A22F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0E9E7-1320-B681-7147-D2AE4DE472E2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16429F-6D76-406F-CED1-E34192583381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29766-8EC4-AE0D-CEC6-8BA9A174349B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7577F4-7469-CCDA-EC9B-9D18DD3FC0E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F49511-4D84-7697-B646-8EFDF25E51E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FE35F9-0B56-1A42-1594-49448FC9FEAC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F55DE7-1229-0723-D5E8-F995207BC41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00809A-58CB-DBD8-A468-D7D4FBBBD94D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979B96-F9CB-4445-0492-5584983AFE55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40453B6-33EF-805C-116F-BBA36147C5C8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FD03F2-678B-7DCE-E4D9-ADCC65988009}"/>
              </a:ext>
            </a:extLst>
          </p:cNvPr>
          <p:cNvCxnSpPr>
            <a:cxnSpLocks/>
          </p:cNvCxnSpPr>
          <p:nvPr/>
        </p:nvCxnSpPr>
        <p:spPr>
          <a:xfrm>
            <a:off x="2948513" y="3198229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116D00-DF97-515C-96B5-36F5A90E86CA}"/>
              </a:ext>
            </a:extLst>
          </p:cNvPr>
          <p:cNvCxnSpPr>
            <a:cxnSpLocks/>
          </p:cNvCxnSpPr>
          <p:nvPr/>
        </p:nvCxnSpPr>
        <p:spPr>
          <a:xfrm>
            <a:off x="2948513" y="4227348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0DF7074-63DD-2D03-60E9-0AEB12523452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5353C7-CC26-9D22-95E7-1223C91926AD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102AD2-1934-6789-647E-10549F8C6807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31851D-7910-8803-7613-AD553857F53F}"/>
              </a:ext>
            </a:extLst>
          </p:cNvPr>
          <p:cNvCxnSpPr>
            <a:cxnSpLocks/>
          </p:cNvCxnSpPr>
          <p:nvPr/>
        </p:nvCxnSpPr>
        <p:spPr>
          <a:xfrm>
            <a:off x="2948513" y="2187415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F44E2C-3067-B377-F236-C9FDC4917BF2}"/>
              </a:ext>
            </a:extLst>
          </p:cNvPr>
          <p:cNvSpPr txBox="1"/>
          <p:nvPr/>
        </p:nvSpPr>
        <p:spPr>
          <a:xfrm>
            <a:off x="2296797" y="2011711"/>
            <a:ext cx="585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C0E21-8796-A661-85CC-2D81644331F9}"/>
              </a:ext>
            </a:extLst>
          </p:cNvPr>
          <p:cNvSpPr txBox="1"/>
          <p:nvPr/>
        </p:nvSpPr>
        <p:spPr>
          <a:xfrm>
            <a:off x="2220686" y="4053452"/>
            <a:ext cx="76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A46DF2-3E1B-9026-1E9D-387DBD15EE88}"/>
              </a:ext>
            </a:extLst>
          </p:cNvPr>
          <p:cNvSpPr txBox="1"/>
          <p:nvPr/>
        </p:nvSpPr>
        <p:spPr>
          <a:xfrm>
            <a:off x="2362664" y="2984895"/>
            <a:ext cx="585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140075E-09A8-C5EC-C9C7-177A23B66B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9002" y="1990641"/>
            <a:ext cx="3314244" cy="38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E753-3133-20BF-A34A-FCDB383D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CD87-3BCC-0473-493A-664DBAE2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DD3DFC-6BBF-9F1F-8F5C-E7F8D9A8D14B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93DCD1-C5C9-3896-88E1-DC3C3A722F66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3F6F86-D83A-E678-3CC9-C994CD58B729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CC9874-FC14-685F-771F-42DBC418C41C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FFF4C-3843-9E57-B195-53DEE455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93824E-0684-79C6-5CC9-72C645C53330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654DB4-BBB4-9D57-4C87-C492F03058F0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AAB773-5A1B-6939-ED71-7D03F277558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3AD9F7-AF38-576F-0955-F6BBAB0802B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7AA8B8-6AC5-488C-9632-2310126ED25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DDB24F-4AFC-55EC-0EE3-CD6A2EAD1F9B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41A475-1B5C-022E-348D-8E0209FF947C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2BC208-142F-142D-9C41-7D75BAC19EB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90E3BD-CCB0-D441-E216-92C3B3F46B54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597BBFF-2E96-866C-2940-38ED64C8370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1A7EB94-28B0-1931-95DB-B2CCA8CC821B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BB578-9C9A-2331-AFD6-DAE075D49DFB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67AD8D-B36A-C9E4-780B-FEA4636122A4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</a:t>
            </a:r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B65883-5013-04E7-2898-13A5C00DD6FD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2A4C3-BE76-5B7F-4297-5D90B3075574}"/>
              </a:ext>
            </a:extLst>
          </p:cNvPr>
          <p:cNvSpPr txBox="1"/>
          <p:nvPr/>
        </p:nvSpPr>
        <p:spPr>
          <a:xfrm>
            <a:off x="902528" y="1563875"/>
            <a:ext cx="54578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prove: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 ( a=0  b=0 ) 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0, 0)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Consecution: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a, b)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a &lt; x</a:t>
            </a:r>
            <a:r>
              <a:rPr lang="en-US" sz="2000" dirty="0">
                <a:solidFill>
                  <a:srgbClr val="000000"/>
                </a:solidFill>
                <a:sym typeface="Symbol" panose="05050102010706020507" pitchFamily="18" charset="2"/>
              </a:rPr>
              <a:t>  a’ = a+1  b’=b-1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                                      </a:t>
            </a:r>
            <a:r>
              <a:rPr lang="en-US" sz="2000" b="1" dirty="0">
                <a:solidFill>
                  <a:srgbClr val="0000FF"/>
                </a:solidFill>
                <a:latin typeface="Calibri" panose="020F0502020204030204"/>
                <a:sym typeface="Symbol" panose="05050102010706020507" pitchFamily="18" charset="2"/>
              </a:rPr>
              <a:t>Inv(x, a’, b’)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sym typeface="Symbol" panose="05050102010706020507" pitchFamily="18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Safety: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(a &lt; x)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Post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C2B017E-DB81-5553-23F5-030A0163276B}"/>
              </a:ext>
            </a:extLst>
          </p:cNvPr>
          <p:cNvSpPr/>
          <p:nvPr/>
        </p:nvSpPr>
        <p:spPr>
          <a:xfrm>
            <a:off x="3020993" y="403599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D703C5-8569-623D-C011-1F003198DD68}"/>
                  </a:ext>
                </a:extLst>
              </p:cNvPr>
              <p:cNvSpPr txBox="1"/>
              <p:nvPr/>
            </p:nvSpPr>
            <p:spPr>
              <a:xfrm>
                <a:off x="1090160" y="5014404"/>
                <a:ext cx="5270246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program satisfies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Symbol" panose="05050102010706020507" pitchFamily="18" charset="2"/>
                  </a:rPr>
                  <a:t> Pre, Post 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Inv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an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inductive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invariant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It holds whenever the program execution 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sub>
                    </m:sSub>
                  </m:oMath>
                </a14:m>
                <a:b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0D49E-BD91-E8DA-FBC4-F09910320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160" y="5014404"/>
                <a:ext cx="5270246" cy="1292662"/>
              </a:xfrm>
              <a:prstGeom prst="rect">
                <a:avLst/>
              </a:prstGeom>
              <a:blipFill>
                <a:blip r:embed="rId14"/>
                <a:stretch>
                  <a:fillRect l="-1042" t="-377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79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7D53-021E-189E-A30D-B58E7259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1E6A-C9CE-F8D7-03BA-07827B7A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D027BF-A9AD-A5AF-ECFE-AC770C58E0B2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≔0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8AB4BE-58B8-D27C-676F-6FDAF2961C12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AD7A58-5B12-383B-6DB2-14E24784142B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273150-FFE4-FD48-2E13-6A7A0B6B9C80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FFF4C-3843-9E57-B195-53DEE455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5BF8E0-53ED-3305-7FF9-198A65B9D1F8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96FC1-0A1F-B3E2-17C3-86FEB3D5126F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65ACA0-CFD6-4FEB-F19D-47DD0E00F4E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3EF830-57CA-BEE2-4B65-4AFE4F6A07B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C3EAE0-98BA-22A3-EDE2-8F319B1C66C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594DFA-547B-7B1C-85EF-EA06878E2DC6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89A4C2-E552-21F6-DA51-448785896E7E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E4B15A-1FE2-6195-62C0-A31505DA95D3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DF29B9-9496-FDE0-202D-28DD5522E7BA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05B367-8F7F-0867-6390-5DACACB6E203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6703A8B-254D-1A1B-8F83-9C25E1FB18B5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FB77F8-CBC6-6536-C09B-67770F8DCE33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975C12-05D4-1522-2056-4C7A8D41D236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</a:t>
            </a:r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24130-ED32-1A8D-1D5B-FA7C08D202D9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2675A-D596-CA53-0AD1-EE404C180EAA}"/>
              </a:ext>
            </a:extLst>
          </p:cNvPr>
          <p:cNvSpPr txBox="1"/>
          <p:nvPr/>
        </p:nvSpPr>
        <p:spPr>
          <a:xfrm>
            <a:off x="902528" y="1563875"/>
            <a:ext cx="54578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prove: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 ( a=0  b=0 ) 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0, 0)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Consecution: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Inv(x, a, b)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a &lt; x</a:t>
            </a:r>
            <a:r>
              <a:rPr lang="en-US" sz="2000" dirty="0">
                <a:solidFill>
                  <a:srgbClr val="000000"/>
                </a:solidFill>
                <a:sym typeface="Symbol" panose="05050102010706020507" pitchFamily="18" charset="2"/>
              </a:rPr>
              <a:t>  a’ = a+1  b’=b+1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                                      </a:t>
            </a:r>
            <a:r>
              <a:rPr lang="en-US" sz="2000" b="1" dirty="0">
                <a:solidFill>
                  <a:srgbClr val="0000FF"/>
                </a:solidFill>
                <a:latin typeface="Calibri" panose="020F0502020204030204"/>
                <a:sym typeface="Symbol" panose="05050102010706020507" pitchFamily="18" charset="2"/>
              </a:rPr>
              <a:t>Inv(x, a’, b’)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sym typeface="Symbol" panose="05050102010706020507" pitchFamily="18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Safety: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Inv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(a &lt; x) 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Post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72E37-933D-48AF-75BB-AD28BD68301F}"/>
              </a:ext>
            </a:extLst>
          </p:cNvPr>
          <p:cNvSpPr txBox="1"/>
          <p:nvPr/>
        </p:nvSpPr>
        <p:spPr>
          <a:xfrm>
            <a:off x="892038" y="4525960"/>
            <a:ext cx="5552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chemeClr val="accent4"/>
                </a:solidFill>
                <a:latin typeface="Calibri" panose="020F0502020204030204"/>
              </a:rPr>
              <a:t>Is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2800" i="0" u="none" strike="noStrike" kern="1200" cap="none" spc="0" normalizeH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a+b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=0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a good </a:t>
            </a:r>
            <a:r>
              <a:rPr lang="en-US" sz="2800" dirty="0" err="1">
                <a:solidFill>
                  <a:schemeClr val="accent4"/>
                </a:solidFill>
                <a:latin typeface="Calibri" panose="020F0502020204030204"/>
              </a:rPr>
              <a:t>i</a:t>
            </a:r>
            <a:r>
              <a:rPr kumimoji="0" lang="en-US" sz="2800" i="0" u="none" strike="noStrike" kern="120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nductive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</a:rPr>
              <a:t> invariant?</a:t>
            </a:r>
          </a:p>
        </p:txBody>
      </p:sp>
    </p:spTree>
    <p:extLst>
      <p:ext uri="{BB962C8B-B14F-4D97-AF65-F5344CB8AC3E}">
        <p14:creationId xmlns:p14="http://schemas.microsoft.com/office/powerpoint/2010/main" val="91954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8D7E-F93F-E17C-3AB1-116267A81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D7DE-E209-F496-9ECB-B9ED1982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(Floyd method)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1A312CB-DD9A-7E80-3C90-E6DED71152AA}"/>
                  </a:ext>
                </a:extLst>
              </p:cNvPr>
              <p:cNvSpPr txBox="1"/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≔0 ; 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2E8E3E-8FE2-A61A-E432-7C11C7090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16" y="2159706"/>
                <a:ext cx="2327724" cy="442674"/>
              </a:xfrm>
              <a:prstGeom prst="roundRect">
                <a:avLst/>
              </a:prstGeom>
              <a:blipFill>
                <a:blip r:embed="rId4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C13851-403B-D819-5395-E19E92B194BF}"/>
                  </a:ext>
                </a:extLst>
              </p:cNvPr>
              <p:cNvSpPr txBox="1"/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?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6FD77F-45C8-E8DF-2483-82D367E1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65" y="3193527"/>
                <a:ext cx="1705425" cy="442674"/>
              </a:xfrm>
              <a:prstGeom prst="roundRect">
                <a:avLst/>
              </a:prstGeom>
              <a:blipFill>
                <a:blip r:embed="rId5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FD0251-6A22-CA63-7BDD-8F29DAFAB9B9}"/>
                  </a:ext>
                </a:extLst>
              </p:cNvPr>
              <p:cNvSpPr txBox="1"/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≔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EEFA0E-B985-A457-354D-3F2552329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96" y="4231211"/>
                <a:ext cx="2068644" cy="783193"/>
              </a:xfrm>
              <a:prstGeom prst="roundRect">
                <a:avLst/>
              </a:prstGeom>
              <a:blipFill>
                <a:blip r:embed="rId6"/>
                <a:stretch>
                  <a:fillRect r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EED302-9069-8492-8DE2-3F6CB06385B7}"/>
                  </a:ext>
                </a:extLst>
              </p:cNvPr>
              <p:cNvSpPr txBox="1"/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eturn</m:t>
                    </m:r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FFF4C-3843-9E57-B195-53DEE455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146" y="5415720"/>
                <a:ext cx="2068644" cy="442674"/>
              </a:xfrm>
              <a:prstGeom prst="roundRect">
                <a:avLst/>
              </a:prstGeom>
              <a:blipFill>
                <a:blip r:embed="rId7"/>
                <a:stretch>
                  <a:fillRect t="-2740" b="-191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B27C9C-427C-6184-1941-E6137CD921E7}"/>
                  </a:ext>
                </a:extLst>
              </p:cNvPr>
              <p:cNvSpPr txBox="1"/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ℓ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   </a:t>
                </a:r>
                <a14:m>
                  <m:oMath xmlns:m="http://schemas.openxmlformats.org/officeDocument/2006/math">
                    <m:r>
                      <a:rPr kumimoji="0" lang="en-US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𝐞𝐧𝐭𝐫𝐲</m:t>
                    </m:r>
                  </m:oMath>
                </a14:m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5F8AC-A3AE-AB95-50F0-1E57DB97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156" y="1125885"/>
                <a:ext cx="1433644" cy="442674"/>
              </a:xfrm>
              <a:prstGeom prst="roundRect">
                <a:avLst/>
              </a:prstGeom>
              <a:blipFill>
                <a:blip r:embed="rId9"/>
                <a:stretch>
                  <a:fillRect t="-2778" b="-19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5B3309-2C55-FB9B-A9F8-ADFFE50AA0EE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8985978" y="1568559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0EDD6C-2C5E-722E-2539-E5F4B72A16E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8985978" y="2602380"/>
            <a:ext cx="0" cy="59114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B74781-2D63-9ABE-B21A-039850D7419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769318" y="3636201"/>
            <a:ext cx="1216660" cy="59501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8D2DF4-43B3-E8A3-E2F8-FF755EE5C34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8985978" y="3636201"/>
            <a:ext cx="828490" cy="177951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9C0255-8953-341F-5C00-5FBE26C1DAF4}"/>
                  </a:ext>
                </a:extLst>
              </p:cNvPr>
              <p:cNvSpPr txBox="1"/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𝑡𝑟𝑢𝑒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BFAA74-8B93-9AB8-A875-9144DBA23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980" y="3654949"/>
                <a:ext cx="8788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FF209B-BD74-0460-B0B2-1D4F3C2CBC0A}"/>
                  </a:ext>
                </a:extLst>
              </p:cNvPr>
              <p:cNvSpPr txBox="1"/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𝑓𝑎𝑙𝑠𝑒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5A2DFC-D509-0E3D-CC90-1F366A1CB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6" y="4418570"/>
                <a:ext cx="878840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8666DAC-1BC0-1C6D-2CC4-F4FA9E4EB4E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8381" y="4622808"/>
            <a:ext cx="32661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2DCACE-DA1F-DB76-46AE-D997F9C224D4}"/>
              </a:ext>
            </a:extLst>
          </p:cNvPr>
          <p:cNvCxnSpPr>
            <a:cxnSpLocks/>
          </p:cNvCxnSpPr>
          <p:nvPr/>
        </p:nvCxnSpPr>
        <p:spPr>
          <a:xfrm flipV="1">
            <a:off x="6416846" y="3414864"/>
            <a:ext cx="0" cy="121526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E3D6297-2AD2-AFB5-3B64-4616BA4EE86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408381" y="3414864"/>
            <a:ext cx="1724884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4E7BE2D-4071-AA8B-7060-D0B65798D86D}"/>
              </a:ext>
            </a:extLst>
          </p:cNvPr>
          <p:cNvSpPr txBox="1"/>
          <p:nvPr/>
        </p:nvSpPr>
        <p:spPr>
          <a:xfrm>
            <a:off x="7800000" y="6000000"/>
            <a:ext cx="3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Control Flow Graph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928E4C-CEF4-4002-F715-52AA7D0E7B0B}"/>
              </a:ext>
            </a:extLst>
          </p:cNvPr>
          <p:cNvSpPr txBox="1"/>
          <p:nvPr/>
        </p:nvSpPr>
        <p:spPr>
          <a:xfrm>
            <a:off x="9895205" y="1194543"/>
            <a:ext cx="129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Pre::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x &gt;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901F3C-6948-6A31-78AF-F7C8C2C10916}"/>
              </a:ext>
            </a:extLst>
          </p:cNvPr>
          <p:cNvSpPr txBox="1"/>
          <p:nvPr/>
        </p:nvSpPr>
        <p:spPr>
          <a:xfrm>
            <a:off x="9870908" y="3136739"/>
            <a:ext cx="1945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Inv::</a:t>
            </a:r>
            <a:r>
              <a:rPr lang="en-US" b="1" dirty="0">
                <a:solidFill>
                  <a:srgbClr val="0000FF"/>
                </a:solidFill>
                <a:latin typeface="Calibri" panose="020F0502020204030204"/>
              </a:rPr>
              <a:t> ??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743CF-A34A-C978-8B32-207422C192CF}"/>
              </a:ext>
            </a:extLst>
          </p:cNvPr>
          <p:cNvSpPr txBox="1"/>
          <p:nvPr/>
        </p:nvSpPr>
        <p:spPr>
          <a:xfrm>
            <a:off x="10961225" y="5456704"/>
            <a:ext cx="11799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Post::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a*b &lt; 0</a:t>
            </a:r>
            <a:endParaRPr kumimoji="0" lang="en-IL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31627-A72A-0B6C-C9E9-3DD60AB5DF15}"/>
                  </a:ext>
                </a:extLst>
              </p:cNvPr>
              <p:cNvSpPr txBox="1"/>
              <p:nvPr/>
            </p:nvSpPr>
            <p:spPr>
              <a:xfrm>
                <a:off x="902528" y="1578305"/>
                <a:ext cx="5552563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400" dirty="0">
                    <a:solidFill>
                      <a:schemeClr val="accent4"/>
                    </a:solidFill>
                    <a:latin typeface="Calibri" panose="020F0502020204030204"/>
                  </a:rPr>
                  <a:t>Is</a:t>
                </a: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2400" i="0" u="none" strike="noStrike" kern="1200" cap="none" spc="0" normalizeH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a+b</a:t>
                </a: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=0</a:t>
                </a: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a good </a:t>
                </a:r>
                <a:r>
                  <a:rPr lang="en-US" sz="2400" dirty="0" err="1">
                    <a:solidFill>
                      <a:schemeClr val="accent4"/>
                    </a:solidFill>
                    <a:latin typeface="Calibri" panose="020F0502020204030204"/>
                  </a:rPr>
                  <a:t>i</a:t>
                </a:r>
                <a:r>
                  <a:rPr kumimoji="0" lang="en-US" sz="240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nductive</a:t>
                </a: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 invariant?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solidFill>
                    <a:schemeClr val="accent4"/>
                  </a:solidFill>
                  <a:latin typeface="Calibri" panose="020F0502020204030204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Calibri" panose="020F0502020204030204"/>
                  </a:rPr>
                  <a:t>NO!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400" dirty="0">
                    <a:latin typeface="Calibri" panose="020F0502020204030204"/>
                  </a:rPr>
                  <a:t>When initially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/>
                  </a:rPr>
                  <a:t>x=-5 </a:t>
                </a:r>
                <a:r>
                  <a:rPr lang="en-US" sz="2400" dirty="0">
                    <a:latin typeface="Calibri" panose="020F0502020204030204"/>
                  </a:rPr>
                  <a:t>then the loop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/>
                  </a:rPr>
                  <a:t>terminates immediately </a:t>
                </a:r>
                <a:r>
                  <a:rPr lang="en-US" sz="2400" dirty="0">
                    <a:latin typeface="Calibri" panose="020F0502020204030204"/>
                  </a:rPr>
                  <a:t>with 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/>
                  </a:rPr>
                  <a:t>a=b=0</a:t>
                </a:r>
                <a:r>
                  <a:rPr lang="en-US" sz="2400" dirty="0">
                    <a:latin typeface="Calibri" panose="020F0502020204030204"/>
                  </a:rPr>
                  <a:t>. Now, </a:t>
                </a:r>
                <a:r>
                  <a:rPr lang="en-US" sz="2400" dirty="0">
                    <a:solidFill>
                      <a:srgbClr val="0000FF"/>
                    </a:solidFill>
                    <a:latin typeface="Calibri" panose="020F0502020204030204"/>
                  </a:rPr>
                  <a:t>a*b=0</a:t>
                </a:r>
                <a:r>
                  <a:rPr lang="en-US" sz="2400" dirty="0">
                    <a:latin typeface="Calibri" panose="020F0502020204030204"/>
                  </a:rPr>
                  <a:t>, not  </a:t>
                </a:r>
                <a:r>
                  <a:rPr lang="en-US" sz="2400" dirty="0">
                    <a:solidFill>
                      <a:srgbClr val="0000FF"/>
                    </a:solidFill>
                    <a:latin typeface="Calibri" panose="020F0502020204030204"/>
                  </a:rPr>
                  <a:t>a*b&lt;0</a:t>
                </a:r>
                <a:r>
                  <a:rPr lang="en-US" sz="2400" dirty="0">
                    <a:latin typeface="Calibri" panose="020F0502020204030204"/>
                  </a:rPr>
                  <a:t> as needed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latin typeface="Calibri" panose="020F0502020204030204"/>
                </a:endParaRPr>
              </a:p>
              <a:p>
                <a:pPr lvl="0">
                  <a:defRPr/>
                </a:pPr>
                <a:r>
                  <a:rPr lang="en-US" sz="2400" b="1" dirty="0">
                    <a:solidFill>
                      <a:srgbClr val="000000"/>
                    </a:solidFill>
                  </a:rPr>
                  <a:t>A correct invariant:</a:t>
                </a:r>
                <a:r>
                  <a:rPr lang="en-US" sz="2400" b="1" dirty="0">
                    <a:solidFill>
                      <a:srgbClr val="92278F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latin typeface="Calibri" panose="020F0502020204030204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sz="2800" dirty="0">
                  <a:latin typeface="Calibri" panose="020F0502020204030204"/>
                </a:endParaRPr>
              </a:p>
              <a:p>
                <a:pPr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3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libri" panose="020F0502020204030204"/>
                  </a:rPr>
                  <a:t>Finding invariant is hard!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31627-A72A-0B6C-C9E9-3DD60AB5D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28" y="1578305"/>
                <a:ext cx="5552563" cy="4585871"/>
              </a:xfrm>
              <a:prstGeom prst="rect">
                <a:avLst/>
              </a:prstGeom>
              <a:blipFill>
                <a:blip r:embed="rId13"/>
                <a:stretch>
                  <a:fillRect l="-2195" t="-1064" b="-34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07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BAE3-755A-A185-CB12-C2309ADF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1CB23-4F6F-F442-9051-E0E1ED5AD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82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</a:rPr>
              <a:t>Let the machine find the invariant for us</a:t>
            </a:r>
          </a:p>
          <a:p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checking, symbolic verification, and Constrained Horn Clauses</a:t>
            </a:r>
            <a:endParaRPr lang="en-US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0DBBB-7C9E-76A1-7C64-8E200280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18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make it automatic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F0F1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Restrict until decidable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F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(Clarke, Emerson, Sifakis, early 1980s)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finite-state model + temporal-logic property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answers yes, or no with a counterexample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But programs are not finite state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Keep programs — hand it to a solver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program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symbolically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as logical formulas.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 verification to: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 this formula satisfiable?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very good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solvers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 that question.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SAT  →  SMT  →  CHCs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becomes the unknown that the solver is asked to find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4278-5E7C-FE0D-ADD2-71C60F66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FEF7-F727-CAD6-78AD-09531CC6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Back to Program Verification</a:t>
            </a:r>
            <a:endParaRPr lang="en-IL" sz="34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21320-6793-0AA8-1804-FCCC1037A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8707628" y="404367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09EB4-F35F-D439-91A8-0D0F04C2E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2283197" y="204681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0FC222-3AEE-C28B-D4A9-D9B31387B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8707628" y="187890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B89651-C88F-B870-CBC1-16331FAB0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2283197" y="403817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683221-F727-BF25-6B81-01F5B2ECD232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967291" y="3714215"/>
            <a:ext cx="109802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C9487E7-AF1A-0993-7145-69C5181A8B59}"/>
              </a:ext>
            </a:extLst>
          </p:cNvPr>
          <p:cNvSpPr txBox="1"/>
          <p:nvPr/>
        </p:nvSpPr>
        <p:spPr>
          <a:xfrm>
            <a:off x="2318498" y="317824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Program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02D0F7-C119-EDAB-C2BC-3379F0E12D89}"/>
              </a:ext>
            </a:extLst>
          </p:cNvPr>
          <p:cNvSpPr txBox="1"/>
          <p:nvPr/>
        </p:nvSpPr>
        <p:spPr>
          <a:xfrm>
            <a:off x="2075022" y="534485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1AFDAA-42AF-7EB9-6A2C-F75707900094}"/>
              </a:ext>
            </a:extLst>
          </p:cNvPr>
          <p:cNvSpPr txBox="1"/>
          <p:nvPr/>
        </p:nvSpPr>
        <p:spPr>
          <a:xfrm>
            <a:off x="8987823" y="318475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3B9B6D-0A88-CC9B-D074-FC144BDFC2DA}"/>
              </a:ext>
            </a:extLst>
          </p:cNvPr>
          <p:cNvSpPr txBox="1"/>
          <p:nvPr/>
        </p:nvSpPr>
        <p:spPr>
          <a:xfrm>
            <a:off x="8954473" y="534659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Buggy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A56E01-8305-9BD2-3E60-B04F142E93CD}"/>
              </a:ext>
            </a:extLst>
          </p:cNvPr>
          <p:cNvSpPr/>
          <p:nvPr/>
        </p:nvSpPr>
        <p:spPr>
          <a:xfrm>
            <a:off x="5065319" y="3124943"/>
            <a:ext cx="2052320" cy="117854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Formal Verifier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37A82E-F98E-0AA6-3900-D33D5662AC1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89874" y="2616201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4678CE-6ADF-00DB-BF34-B1F61920E5F4}"/>
              </a:ext>
            </a:extLst>
          </p:cNvPr>
          <p:cNvCxnSpPr>
            <a:cxnSpLocks/>
          </p:cNvCxnSpPr>
          <p:nvPr/>
        </p:nvCxnSpPr>
        <p:spPr>
          <a:xfrm>
            <a:off x="3967291" y="260191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CC97D06-BBC9-2764-B532-9EA9532FA62E}"/>
              </a:ext>
            </a:extLst>
          </p:cNvPr>
          <p:cNvCxnSpPr>
            <a:cxnSpLocks/>
          </p:cNvCxnSpPr>
          <p:nvPr/>
        </p:nvCxnSpPr>
        <p:spPr>
          <a:xfrm>
            <a:off x="3967291" y="371421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C4CF4E1-24A9-E411-F564-FC02149CCDB2}"/>
              </a:ext>
            </a:extLst>
          </p:cNvPr>
          <p:cNvCxnSpPr>
            <a:cxnSpLocks/>
          </p:cNvCxnSpPr>
          <p:nvPr/>
        </p:nvCxnSpPr>
        <p:spPr>
          <a:xfrm>
            <a:off x="3589874" y="4827588"/>
            <a:ext cx="377417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8056662-3152-58DF-C9CD-8CC5B2CE62D6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7117639" y="3714215"/>
            <a:ext cx="110137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264B0DF-4B1B-EAF6-7F2F-164F0072E14E}"/>
              </a:ext>
            </a:extLst>
          </p:cNvPr>
          <p:cNvCxnSpPr>
            <a:cxnSpLocks/>
          </p:cNvCxnSpPr>
          <p:nvPr/>
        </p:nvCxnSpPr>
        <p:spPr>
          <a:xfrm>
            <a:off x="8206313" y="2590697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C5B5588-9D43-2A83-8CCE-681388592FA2}"/>
              </a:ext>
            </a:extLst>
          </p:cNvPr>
          <p:cNvCxnSpPr>
            <a:cxnSpLocks/>
          </p:cNvCxnSpPr>
          <p:nvPr/>
        </p:nvCxnSpPr>
        <p:spPr>
          <a:xfrm>
            <a:off x="8206313" y="371421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9DF57E1-69AD-E5CF-FBF6-4A8872F30BAC}"/>
              </a:ext>
            </a:extLst>
          </p:cNvPr>
          <p:cNvCxnSpPr>
            <a:cxnSpLocks/>
          </p:cNvCxnSpPr>
          <p:nvPr/>
        </p:nvCxnSpPr>
        <p:spPr>
          <a:xfrm flipV="1">
            <a:off x="8193088" y="259069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1D3A75-72D9-33FC-3E9E-DF0FE1086202}"/>
              </a:ext>
            </a:extLst>
          </p:cNvPr>
          <p:cNvCxnSpPr>
            <a:cxnSpLocks/>
          </p:cNvCxnSpPr>
          <p:nvPr/>
        </p:nvCxnSpPr>
        <p:spPr>
          <a:xfrm>
            <a:off x="8196263" y="484187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8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DDF2C-5540-1EEC-2D8D-F6698952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D245D043-2B6C-12D1-EF10-D0DB58433575}"/>
              </a:ext>
            </a:extLst>
          </p:cNvPr>
          <p:cNvSpPr txBox="1"/>
          <p:nvPr/>
        </p:nvSpPr>
        <p:spPr>
          <a:xfrm>
            <a:off x="4720638" y="4340936"/>
            <a:ext cx="2615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Set of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Constrained Horn Clauses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 (CHCs)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2294EA-0C7A-66B5-36E1-A839D5275053}"/>
              </a:ext>
            </a:extLst>
          </p:cNvPr>
          <p:cNvCxnSpPr>
            <a:cxnSpLocks/>
          </p:cNvCxnSpPr>
          <p:nvPr/>
        </p:nvCxnSpPr>
        <p:spPr>
          <a:xfrm flipH="1" flipV="1">
            <a:off x="6024032" y="4309836"/>
            <a:ext cx="531" cy="112939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D0AD270-5C93-C500-B13B-CE3D53E7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Program Verification via CHCs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1B6C3-64DF-C416-04AB-610D07B8D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359947" y="404268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6EB25F-F451-1F96-E403-D0B082000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2053167"/>
            <a:ext cx="1306677" cy="1138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083272-EC7E-9CED-9C6F-BC4F3C50C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359947" y="1877918"/>
            <a:ext cx="1280583" cy="1306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7B37D-7707-D741-0BA3-B6C8C1C30A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4044528"/>
            <a:ext cx="1306677" cy="130667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EEEA29-FAD6-97E4-033D-955C85C7AE4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180758" y="3720564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8954DE5-95BA-4632-0ACA-11CD0DE60764}"/>
              </a:ext>
            </a:extLst>
          </p:cNvPr>
          <p:cNvSpPr txBox="1"/>
          <p:nvPr/>
        </p:nvSpPr>
        <p:spPr>
          <a:xfrm>
            <a:off x="666179" y="31845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Program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EDFB7E-370E-A229-12A2-E717BCBAD786}"/>
              </a:ext>
            </a:extLst>
          </p:cNvPr>
          <p:cNvSpPr txBox="1"/>
          <p:nvPr/>
        </p:nvSpPr>
        <p:spPr>
          <a:xfrm>
            <a:off x="422703" y="53512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Specification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2E59C4-837C-8C33-5953-4D01068B4A94}"/>
              </a:ext>
            </a:extLst>
          </p:cNvPr>
          <p:cNvSpPr txBox="1"/>
          <p:nvPr/>
        </p:nvSpPr>
        <p:spPr>
          <a:xfrm>
            <a:off x="10640142" y="318376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Safe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9E2C6D-4AF1-2661-8605-84A3CEE4E6D8}"/>
              </a:ext>
            </a:extLst>
          </p:cNvPr>
          <p:cNvSpPr txBox="1"/>
          <p:nvPr/>
        </p:nvSpPr>
        <p:spPr>
          <a:xfrm>
            <a:off x="10606792" y="534560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Buggy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CA516A4-1336-90A7-F141-D548BCE4C26E}"/>
              </a:ext>
            </a:extLst>
          </p:cNvPr>
          <p:cNvCxnSpPr>
            <a:cxnSpLocks/>
          </p:cNvCxnSpPr>
          <p:nvPr/>
        </p:nvCxnSpPr>
        <p:spPr>
          <a:xfrm flipV="1">
            <a:off x="1937555" y="26204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475E06-2A19-A6B0-08FF-49956A38C35A}"/>
              </a:ext>
            </a:extLst>
          </p:cNvPr>
          <p:cNvCxnSpPr>
            <a:cxnSpLocks/>
          </p:cNvCxnSpPr>
          <p:nvPr/>
        </p:nvCxnSpPr>
        <p:spPr>
          <a:xfrm>
            <a:off x="2180758" y="260826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08E7B86-2B0F-5594-CDE0-7D204C15FA13}"/>
              </a:ext>
            </a:extLst>
          </p:cNvPr>
          <p:cNvCxnSpPr>
            <a:cxnSpLocks/>
          </p:cNvCxnSpPr>
          <p:nvPr/>
        </p:nvCxnSpPr>
        <p:spPr>
          <a:xfrm>
            <a:off x="2180758" y="372056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2ECD68E-B38B-5233-2D5A-C4A517EC281B}"/>
              </a:ext>
            </a:extLst>
          </p:cNvPr>
          <p:cNvCxnSpPr>
            <a:cxnSpLocks/>
          </p:cNvCxnSpPr>
          <p:nvPr/>
        </p:nvCxnSpPr>
        <p:spPr>
          <a:xfrm>
            <a:off x="1937555" y="48339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8239AD-C372-8FB3-4859-131D11C510B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9533464" y="3723450"/>
            <a:ext cx="32516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01C0828-6343-7781-FFEB-9E74A9067036}"/>
              </a:ext>
            </a:extLst>
          </p:cNvPr>
          <p:cNvCxnSpPr>
            <a:cxnSpLocks/>
          </p:cNvCxnSpPr>
          <p:nvPr/>
        </p:nvCxnSpPr>
        <p:spPr>
          <a:xfrm>
            <a:off x="9858632" y="2589707"/>
            <a:ext cx="1331" cy="114726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4DE9A5-03BF-7985-9275-A5B0EF76EA64}"/>
              </a:ext>
            </a:extLst>
          </p:cNvPr>
          <p:cNvCxnSpPr>
            <a:cxnSpLocks/>
          </p:cNvCxnSpPr>
          <p:nvPr/>
        </p:nvCxnSpPr>
        <p:spPr>
          <a:xfrm flipV="1">
            <a:off x="9845407" y="258970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61BD17E-09FA-D9B8-1A30-14400BCBFA6F}"/>
              </a:ext>
            </a:extLst>
          </p:cNvPr>
          <p:cNvCxnSpPr>
            <a:cxnSpLocks/>
          </p:cNvCxnSpPr>
          <p:nvPr/>
        </p:nvCxnSpPr>
        <p:spPr>
          <a:xfrm>
            <a:off x="9848582" y="484088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F89E56-4C6E-8F1B-0C9A-2E5BB09DE954}"/>
              </a:ext>
            </a:extLst>
          </p:cNvPr>
          <p:cNvSpPr/>
          <p:nvPr/>
        </p:nvSpPr>
        <p:spPr>
          <a:xfrm>
            <a:off x="2588046" y="3305053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B912E94-83F3-7AB5-DBE3-9769B7A1D7C7}"/>
                  </a:ext>
                </a:extLst>
              </p:cNvPr>
              <p:cNvSpPr/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</m:t>
                              </m:r>
                              <m:r>
                                <a:rPr kumimoji="0" lang="en-US" sz="1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⋮</m:t>
                      </m:r>
                    </m:oMath>
                  </m:oMathPara>
                </a14:m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Dosis" pitchFamily="2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B912E94-83F3-7AB5-DBE3-9769B7A1D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566335-7747-2AD7-4FFB-A36F8BC071C2}"/>
              </a:ext>
            </a:extLst>
          </p:cNvPr>
          <p:cNvSpPr/>
          <p:nvPr/>
        </p:nvSpPr>
        <p:spPr>
          <a:xfrm>
            <a:off x="7843277" y="3305053"/>
            <a:ext cx="1690187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CHC Solver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FB00D1-85F5-CBCA-F251-9E34CAD5E7F5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4204784" y="3720565"/>
            <a:ext cx="476003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A3E90A-B2FE-A6EF-5CD4-8F74094A1D47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367276" y="3720565"/>
            <a:ext cx="476001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2F1852E-0236-9DDA-EE78-5DCCC491D0ED}"/>
              </a:ext>
            </a:extLst>
          </p:cNvPr>
          <p:cNvSpPr txBox="1"/>
          <p:nvPr/>
        </p:nvSpPr>
        <p:spPr>
          <a:xfrm>
            <a:off x="9195466" y="2730536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C5AABE-1273-6297-1F8E-BAE8052B5A30}"/>
              </a:ext>
            </a:extLst>
          </p:cNvPr>
          <p:cNvSpPr txBox="1"/>
          <p:nvPr/>
        </p:nvSpPr>
        <p:spPr>
          <a:xfrm>
            <a:off x="8882410" y="4275253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UNSAT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3296462-8692-CF4E-907B-F4CB7BCF1314}"/>
              </a:ext>
            </a:extLst>
          </p:cNvPr>
          <p:cNvCxnSpPr>
            <a:cxnSpLocks/>
          </p:cNvCxnSpPr>
          <p:nvPr/>
        </p:nvCxnSpPr>
        <p:spPr>
          <a:xfrm>
            <a:off x="9860220" y="371322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6753A6-AE4D-ED9C-29C3-BE5A60C14283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024032" y="1818640"/>
            <a:ext cx="0" cy="131265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03D92F-8CF9-A824-9843-6D8578E305C5}"/>
              </a:ext>
            </a:extLst>
          </p:cNvPr>
          <p:cNvCxnSpPr>
            <a:cxnSpLocks/>
          </p:cNvCxnSpPr>
          <p:nvPr/>
        </p:nvCxnSpPr>
        <p:spPr>
          <a:xfrm flipH="1" flipV="1">
            <a:off x="6026150" y="5067300"/>
            <a:ext cx="1588" cy="89693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EAC245-14BF-9A82-C5C6-95BD9BA01BB3}"/>
              </a:ext>
            </a:extLst>
          </p:cNvPr>
          <p:cNvSpPr txBox="1"/>
          <p:nvPr/>
        </p:nvSpPr>
        <p:spPr>
          <a:xfrm>
            <a:off x="3327456" y="2184539"/>
            <a:ext cx="1306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2278F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92278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069BD-1F8A-88CC-0C74-28122ECFBF34}"/>
              </a:ext>
            </a:extLst>
          </p:cNvPr>
          <p:cNvSpPr txBox="1"/>
          <p:nvPr/>
        </p:nvSpPr>
        <p:spPr>
          <a:xfrm>
            <a:off x="7090292" y="2005829"/>
            <a:ext cx="1688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2278F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Satisfiability Checking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92278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EDC11EE-6978-80D7-C53D-3A0587AF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39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1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2" grpId="0"/>
      <p:bldP spid="14" grpId="0" animBg="1"/>
      <p:bldP spid="16" grpId="0" animBg="1"/>
      <p:bldP spid="17" grpId="0" animBg="1"/>
      <p:bldP spid="43" grpId="0"/>
      <p:bldP spid="71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9A58-5A1F-65A4-7418-5286B415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393E-F31F-6F7F-9915-0ED7E9E7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Constrained Horn Clauses (CHCs)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C4C72-2F06-B3C1-D68A-D80432FA6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rgbClr val="7D6A3B"/>
                    </a:solidFill>
                  </a:rPr>
                  <a:t>constrained Horn clause</a:t>
                </a:r>
                <a:r>
                  <a:rPr lang="en-US" sz="2200" dirty="0"/>
                  <a:t> is a first order logic formula of the form: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</a:t>
                </a:r>
                <a:r>
                  <a:rPr lang="en-US" sz="2200" b="0" dirty="0"/>
                  <a:t>here</a:t>
                </a:r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200" b="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ℋ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200" b="0" dirty="0"/>
                  <a:t> is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b="0" dirty="0"/>
                  <a:t> or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200" dirty="0">
                  <a:solidFill>
                    <a:srgbClr val="000000"/>
                  </a:solidFill>
                </a:endParaRPr>
              </a:p>
              <a:p>
                <a:pPr marL="0" lvl="0" indent="0">
                  <a:buNone/>
                </a:pPr>
                <a:endParaRPr lang="en-US" sz="2200" b="0" dirty="0"/>
              </a:p>
              <a:p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0" u="sng" dirty="0"/>
                  <a:t>Example</a:t>
                </a:r>
                <a:r>
                  <a:rPr lang="en-US" sz="2200" b="0" dirty="0"/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22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C4C72-2F06-B3C1-D68A-D80432FA6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54" t="-1681" b="-7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151187-51AE-2505-4F27-C9B30F60BA06}"/>
                  </a:ext>
                </a:extLst>
              </p:cNvPr>
              <p:cNvSpPr txBox="1"/>
              <p:nvPr/>
            </p:nvSpPr>
            <p:spPr>
              <a:xfrm>
                <a:off x="3350354" y="2293537"/>
                <a:ext cx="60966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∀</m:t>
                      </m:r>
                      <m:acc>
                        <m:accPr>
                          <m:chr m:val="̅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  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ℬ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ℋ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151187-51AE-2505-4F27-C9B30F60B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354" y="2293537"/>
                <a:ext cx="60966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E3ED96F-0068-5542-1D69-1BED74885934}"/>
              </a:ext>
            </a:extLst>
          </p:cNvPr>
          <p:cNvSpPr txBox="1"/>
          <p:nvPr/>
        </p:nvSpPr>
        <p:spPr>
          <a:xfrm>
            <a:off x="1432446" y="2841647"/>
            <a:ext cx="1665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uninterpreted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predicate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7D6A3B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D50FC-74E3-5C1B-060F-40280A297BB9}"/>
              </a:ext>
            </a:extLst>
          </p:cNvPr>
          <p:cNvSpPr txBox="1"/>
          <p:nvPr/>
        </p:nvSpPr>
        <p:spPr>
          <a:xfrm>
            <a:off x="4261865" y="3162815"/>
            <a:ext cx="13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constraint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7D6A3B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728F6-EDE5-7C3E-5215-365BE67615EB}"/>
              </a:ext>
            </a:extLst>
          </p:cNvPr>
          <p:cNvSpPr txBox="1"/>
          <p:nvPr/>
        </p:nvSpPr>
        <p:spPr>
          <a:xfrm>
            <a:off x="5768118" y="2693647"/>
            <a:ext cx="772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body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E9DE1-5A78-EF0D-301E-792888C40ACF}"/>
              </a:ext>
            </a:extLst>
          </p:cNvPr>
          <p:cNvSpPr txBox="1"/>
          <p:nvPr/>
        </p:nvSpPr>
        <p:spPr>
          <a:xfrm>
            <a:off x="6657177" y="2693647"/>
            <a:ext cx="772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solidFill>
                  <a:srgbClr val="7D6A3B"/>
                </a:solidFill>
                <a:latin typeface="Dosis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6A3B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head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7D6A3B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992DACA0-70A0-88FE-910B-4A9CA1572125}"/>
              </a:ext>
            </a:extLst>
          </p:cNvPr>
          <p:cNvSpPr/>
          <p:nvPr/>
        </p:nvSpPr>
        <p:spPr>
          <a:xfrm rot="16200000">
            <a:off x="6112559" y="2417992"/>
            <a:ext cx="83343" cy="533518"/>
          </a:xfrm>
          <a:prstGeom prst="leftBrace">
            <a:avLst/>
          </a:prstGeom>
          <a:noFill/>
          <a:ln>
            <a:solidFill>
              <a:srgbClr val="7D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4FFD43FD-7DB9-15D2-C2E6-18D67A1C5FCB}"/>
              </a:ext>
            </a:extLst>
          </p:cNvPr>
          <p:cNvSpPr/>
          <p:nvPr/>
        </p:nvSpPr>
        <p:spPr>
          <a:xfrm rot="16200000">
            <a:off x="7001618" y="2417991"/>
            <a:ext cx="83343" cy="533518"/>
          </a:xfrm>
          <a:prstGeom prst="leftBrace">
            <a:avLst/>
          </a:prstGeom>
          <a:noFill/>
          <a:ln>
            <a:solidFill>
              <a:srgbClr val="7D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D1334-70CB-FB6C-DCEB-658C340D271E}"/>
              </a:ext>
            </a:extLst>
          </p:cNvPr>
          <p:cNvCxnSpPr>
            <a:cxnSpLocks/>
          </p:cNvCxnSpPr>
          <p:nvPr/>
        </p:nvCxnSpPr>
        <p:spPr>
          <a:xfrm rot="5400000" flipV="1">
            <a:off x="4748659" y="3748787"/>
            <a:ext cx="376370" cy="1691"/>
          </a:xfrm>
          <a:prstGeom prst="line">
            <a:avLst/>
          </a:prstGeom>
          <a:ln w="28575">
            <a:solidFill>
              <a:srgbClr val="7D6A3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E8440B-9DCD-0B46-D538-E702EC6A8EFE}"/>
              </a:ext>
            </a:extLst>
          </p:cNvPr>
          <p:cNvCxnSpPr>
            <a:cxnSpLocks/>
          </p:cNvCxnSpPr>
          <p:nvPr/>
        </p:nvCxnSpPr>
        <p:spPr>
          <a:xfrm rot="5400000" flipV="1">
            <a:off x="2078028" y="3748788"/>
            <a:ext cx="376370" cy="1691"/>
          </a:xfrm>
          <a:prstGeom prst="line">
            <a:avLst/>
          </a:prstGeom>
          <a:ln w="28575">
            <a:solidFill>
              <a:srgbClr val="7D6A3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FF333A1-EB96-0835-598A-FF505DAC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4822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72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1E9A-D7E2-07FF-F97A-E8594EE7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4CED-9AA5-43F8-A144-F82DFFE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An Example Verification Problem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0349A-1B1C-D47E-EB3C-2593D774F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4155367" y="5718874"/>
            <a:ext cx="582219" cy="50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34E13-AEB5-9C0A-4047-78964B700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r="15450"/>
          <a:stretch>
            <a:fillRect/>
          </a:stretch>
        </p:blipFill>
        <p:spPr>
          <a:xfrm>
            <a:off x="7632521" y="4493988"/>
            <a:ext cx="400396" cy="582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/>
              <p:nvPr/>
            </p:nvSpPr>
            <p:spPr>
              <a:xfrm>
                <a:off x="6618156" y="3344216"/>
                <a:ext cx="2429126" cy="919401"/>
              </a:xfrm>
              <a:prstGeom prst="roundRect">
                <a:avLst/>
              </a:prstGeom>
              <a:solidFill>
                <a:srgbClr val="EFEA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Pre: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x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Post: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a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b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DCD3DA-A0F7-BFEF-F742-42B2C9461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56" y="3344216"/>
                <a:ext cx="2429126" cy="919401"/>
              </a:xfrm>
              <a:prstGeom prst="roundRect">
                <a:avLst/>
              </a:prstGeom>
              <a:blipFill>
                <a:blip r:embed="rId4"/>
                <a:stretch>
                  <a:fillRect l="-2010" t="-2000" b="-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CD56E2B6-2CD4-11D7-213A-F0E126632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2" r="19891"/>
          <a:stretch>
            <a:fillRect/>
          </a:stretch>
        </p:blipFill>
        <p:spPr>
          <a:xfrm>
            <a:off x="3231914" y="2008739"/>
            <a:ext cx="2429127" cy="344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1C8D286-1A7C-7C7A-45B5-45AF7ECE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06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C233-4AA0-0D4A-377E-45EF8FA5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59B9-66AA-339D-9736-F746CD21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An Example Verification Problem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7BABF-8AC1-A3E4-713B-A14518E5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527822" y="1806850"/>
            <a:ext cx="582219" cy="507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9BDB2F-B108-D624-CEA4-F7F5BEE00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7" r="15450"/>
          <a:stretch>
            <a:fillRect/>
          </a:stretch>
        </p:blipFill>
        <p:spPr>
          <a:xfrm>
            <a:off x="618733" y="5611590"/>
            <a:ext cx="400396" cy="5829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46CC49-27A3-E792-AF27-029BC5E14DEE}"/>
                  </a:ext>
                </a:extLst>
              </p:cNvPr>
              <p:cNvSpPr txBox="1"/>
              <p:nvPr/>
            </p:nvSpPr>
            <p:spPr>
              <a:xfrm>
                <a:off x="1381879" y="5368359"/>
                <a:ext cx="2595376" cy="919401"/>
              </a:xfrm>
              <a:prstGeom prst="roundRect">
                <a:avLst/>
              </a:prstGeom>
              <a:solidFill>
                <a:srgbClr val="EFEA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Pre: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x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Dosis" pitchFamily="2" charset="0"/>
                    <a:ea typeface="+mn-ea"/>
                    <a:cs typeface="+mn-cs"/>
                  </a:rPr>
                  <a:t>Post: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&lt;0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46CC49-27A3-E792-AF27-029BC5E14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879" y="5368359"/>
                <a:ext cx="2595376" cy="919401"/>
              </a:xfrm>
              <a:prstGeom prst="roundRect">
                <a:avLst/>
              </a:prstGeom>
              <a:blipFill>
                <a:blip r:embed="rId4"/>
                <a:stretch>
                  <a:fillRect l="-1882" t="-2000" b="-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66AD723-59EE-0DF4-6D64-D01740FE5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2" r="19891"/>
          <a:stretch>
            <a:fillRect/>
          </a:stretch>
        </p:blipFill>
        <p:spPr>
          <a:xfrm>
            <a:off x="1338281" y="1805541"/>
            <a:ext cx="2429127" cy="344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ECB0E76-0287-87C1-4BBE-6D78580C2B6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286410" y="3947147"/>
            <a:ext cx="30915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B6A002-00A5-B7D7-A630-F56B8942287F}"/>
              </a:ext>
            </a:extLst>
          </p:cNvPr>
          <p:cNvCxnSpPr>
            <a:cxnSpLocks/>
          </p:cNvCxnSpPr>
          <p:nvPr/>
        </p:nvCxnSpPr>
        <p:spPr>
          <a:xfrm flipV="1">
            <a:off x="4043207" y="3528750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769DBB-DAB5-81C1-D672-10C2B9C6E4A6}"/>
              </a:ext>
            </a:extLst>
          </p:cNvPr>
          <p:cNvCxnSpPr>
            <a:cxnSpLocks/>
          </p:cNvCxnSpPr>
          <p:nvPr/>
        </p:nvCxnSpPr>
        <p:spPr>
          <a:xfrm>
            <a:off x="4286410" y="3516580"/>
            <a:ext cx="0" cy="44105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68CAAC-9FDC-DF45-7444-7FD795FD718E}"/>
              </a:ext>
            </a:extLst>
          </p:cNvPr>
          <p:cNvCxnSpPr>
            <a:cxnSpLocks/>
          </p:cNvCxnSpPr>
          <p:nvPr/>
        </p:nvCxnSpPr>
        <p:spPr>
          <a:xfrm>
            <a:off x="4286410" y="3944262"/>
            <a:ext cx="0" cy="197711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21C0CD-AF23-EFDE-269A-E661623BDA33}"/>
              </a:ext>
            </a:extLst>
          </p:cNvPr>
          <p:cNvCxnSpPr>
            <a:cxnSpLocks/>
          </p:cNvCxnSpPr>
          <p:nvPr/>
        </p:nvCxnSpPr>
        <p:spPr>
          <a:xfrm>
            <a:off x="4044795" y="5907429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8D0FB4-049F-ED52-EF81-CA74092C9821}"/>
              </a:ext>
            </a:extLst>
          </p:cNvPr>
          <p:cNvSpPr/>
          <p:nvPr/>
        </p:nvSpPr>
        <p:spPr>
          <a:xfrm>
            <a:off x="4595566" y="3528750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EA2EBE-CA8E-B647-44EA-4B0436A1551C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6212304" y="3944262"/>
            <a:ext cx="309155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22C2E5-4CB4-0F07-70B5-9BE00AD80C67}"/>
                  </a:ext>
                </a:extLst>
              </p:cNvPr>
              <p:cNvSpPr txBox="1"/>
              <p:nvPr/>
            </p:nvSpPr>
            <p:spPr>
              <a:xfrm>
                <a:off x="6521459" y="2762203"/>
                <a:ext cx="5142720" cy="2364117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F8EC26-2F80-09F0-3570-3809018DC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459" y="2762203"/>
                <a:ext cx="5142720" cy="236411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459AD7E-0CD1-E9D6-D520-FC4AAF249A60}"/>
              </a:ext>
            </a:extLst>
          </p:cNvPr>
          <p:cNvSpPr txBox="1"/>
          <p:nvPr/>
        </p:nvSpPr>
        <p:spPr>
          <a:xfrm>
            <a:off x="4680968" y="1363394"/>
            <a:ext cx="2830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278F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Encoding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653F88-FF04-4540-F27D-A79A98E04DD2}"/>
              </a:ext>
            </a:extLst>
          </p:cNvPr>
          <p:cNvSpPr txBox="1"/>
          <p:nvPr/>
        </p:nvSpPr>
        <p:spPr>
          <a:xfrm>
            <a:off x="8035266" y="5227925"/>
            <a:ext cx="21151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Set of CHCs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D60B2E-69B7-2C42-B5C1-89CFFD396EA7}"/>
                  </a:ext>
                </a:extLst>
              </p:cNvPr>
              <p:cNvSpPr txBox="1"/>
              <p:nvPr/>
            </p:nvSpPr>
            <p:spPr>
              <a:xfrm>
                <a:off x="601688" y="2830870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278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I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2278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4AC02C-8875-A951-45C2-CF93C281B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88" y="2830870"/>
                <a:ext cx="434485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D0F329-3B8F-097B-A444-CFCE94DD3AAE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1036173" y="3015536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221339A-4C46-98E5-38E3-8019D7E9B4F7}"/>
                  </a:ext>
                </a:extLst>
              </p:cNvPr>
              <p:cNvSpPr txBox="1"/>
              <p:nvPr/>
            </p:nvSpPr>
            <p:spPr>
              <a:xfrm>
                <a:off x="594641" y="3851898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278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</m:oMath>
                  </m:oMathPara>
                </a14:m>
                <a:endParaRPr kumimoji="0" lang="en-IL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92278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D7CE54-A810-BCBE-284B-EB66B967B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41" y="3851898"/>
                <a:ext cx="434485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B9E643-25E0-6A4C-39E3-A386D15D15A4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029126" y="4036564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725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20" grpId="0"/>
      <p:bldP spid="21" grpId="0"/>
      <p:bldP spid="23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278F-095D-C1D2-36A6-630DA5D6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2C50-280B-6962-2A95-BD6B57B1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Derivations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F4A4CA-BDE0-2101-1B93-71A2ED633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602679" y="5145679"/>
            <a:ext cx="573877" cy="5855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970FF9-CEC8-BFFF-2AAF-312CF4C70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602679" y="5850604"/>
            <a:ext cx="579140" cy="536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8ADFB0-A38D-6369-8680-72F05546B25F}"/>
                  </a:ext>
                </a:extLst>
              </p:cNvPr>
              <p:cNvSpPr txBox="1"/>
              <p:nvPr/>
            </p:nvSpPr>
            <p:spPr>
              <a:xfrm>
                <a:off x="1225980" y="4982907"/>
                <a:ext cx="10515600" cy="1350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Intuitively,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Π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satisfiable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if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all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derivations satisfy the query.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Dually,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Π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475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unsatisfiable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if there </a:t>
                </a: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exists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 derivation leading to a query violation.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8ADFB0-A38D-6369-8680-72F05546B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980" y="4982907"/>
                <a:ext cx="10515600" cy="1350947"/>
              </a:xfrm>
              <a:prstGeom prst="rect">
                <a:avLst/>
              </a:prstGeom>
              <a:blipFill>
                <a:blip r:embed="rId5"/>
                <a:stretch>
                  <a:fillRect l="-754" b="-855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2350A9-300F-53F8-161F-AA6236A736BC}"/>
                  </a:ext>
                </a:extLst>
              </p:cNvPr>
              <p:cNvSpPr txBox="1"/>
              <p:nvPr/>
            </p:nvSpPr>
            <p:spPr>
              <a:xfrm>
                <a:off x="1459056" y="1924411"/>
                <a:ext cx="5142720" cy="2364117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2350A9-300F-53F8-161F-AA6236A7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56" y="1924411"/>
                <a:ext cx="5142720" cy="236411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3D5BE8E-67C6-FC60-494B-574C47F148D2}"/>
              </a:ext>
            </a:extLst>
          </p:cNvPr>
          <p:cNvSpPr txBox="1"/>
          <p:nvPr/>
        </p:nvSpPr>
        <p:spPr>
          <a:xfrm>
            <a:off x="7135013" y="4390132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Derivation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DC1CF-BCA1-1836-831A-C3C343137782}"/>
                  </a:ext>
                </a:extLst>
              </p:cNvPr>
              <p:cNvSpPr txBox="1"/>
              <p:nvPr/>
            </p:nvSpPr>
            <p:spPr>
              <a:xfrm>
                <a:off x="7156165" y="2164789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1,0,0</m:t>
                          </m:r>
                        </m:e>
                      </m:d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DC1CF-BCA1-1836-831A-C3C343137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65" y="2164789"/>
                <a:ext cx="1778000" cy="430887"/>
              </a:xfrm>
              <a:prstGeom prst="rect">
                <a:avLst/>
              </a:prstGeom>
              <a:blipFill>
                <a:blip r:embed="rId7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60A1E4-4B91-1DE8-C70E-9C80F672E857}"/>
                  </a:ext>
                </a:extLst>
              </p:cNvPr>
              <p:cNvSpPr txBox="1"/>
              <p:nvPr/>
            </p:nvSpPr>
            <p:spPr>
              <a:xfrm>
                <a:off x="7156537" y="2923097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1,1,−1</m:t>
                          </m:r>
                        </m:e>
                      </m:d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60A1E4-4B91-1DE8-C70E-9C80F672E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537" y="2923097"/>
                <a:ext cx="1778000" cy="43088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3116A8-2EEA-E111-CDA6-1DCF74A9A696}"/>
                  </a:ext>
                </a:extLst>
              </p:cNvPr>
              <p:cNvSpPr txBox="1"/>
              <p:nvPr/>
            </p:nvSpPr>
            <p:spPr>
              <a:xfrm>
                <a:off x="7156165" y="3681406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1,1,−1</m:t>
                          </m:r>
                        </m:e>
                      </m:d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3116A8-2EEA-E111-CDA6-1DCF74A9A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165" y="3681406"/>
                <a:ext cx="1778000" cy="430887"/>
              </a:xfrm>
              <a:prstGeom prst="rect">
                <a:avLst/>
              </a:prstGeom>
              <a:blipFill>
                <a:blip r:embed="rId9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22DFF5E-CDAC-4F08-4135-7519A99A4DE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045165" y="2595676"/>
            <a:ext cx="372" cy="32742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36F11-C61A-C2D5-9A9E-07170D7DF67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8045165" y="3353984"/>
            <a:ext cx="372" cy="327422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CC2BC95F-59D7-BFD1-46FD-EEC7345158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971" y="2837507"/>
            <a:ext cx="602066" cy="6020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8F9E57-E8AD-DC71-7549-858F44ED5D9A}"/>
                  </a:ext>
                </a:extLst>
              </p:cNvPr>
              <p:cNvSpPr txBox="1"/>
              <p:nvPr/>
            </p:nvSpPr>
            <p:spPr>
              <a:xfrm>
                <a:off x="8933793" y="3681406"/>
                <a:ext cx="1778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1∗−1&lt;0</m:t>
                      </m:r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8F9E57-E8AD-DC71-7549-858F44ED5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793" y="3681406"/>
                <a:ext cx="1778000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E8FDD81-3558-CCC9-96D5-6CC964276267}"/>
              </a:ext>
            </a:extLst>
          </p:cNvPr>
          <p:cNvSpPr txBox="1"/>
          <p:nvPr/>
        </p:nvSpPr>
        <p:spPr>
          <a:xfrm>
            <a:off x="8912641" y="4390132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Query Check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3838DD-8340-868B-DBFA-981564FC4AB8}"/>
                  </a:ext>
                </a:extLst>
              </p:cNvPr>
              <p:cNvSpPr txBox="1"/>
              <p:nvPr/>
            </p:nvSpPr>
            <p:spPr>
              <a:xfrm>
                <a:off x="2972863" y="4420274"/>
                <a:ext cx="211510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Π</m:t>
                      </m:r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3838DD-8340-868B-DBFA-981564FC4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863" y="4420274"/>
                <a:ext cx="211510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C852641A-842F-3B17-B713-2E6E0047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1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8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25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F749-5EB4-2B81-2B36-3680CDC9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ACFD53-4FC6-B06C-6204-423BC01DFB2A}"/>
                  </a:ext>
                </a:extLst>
              </p:cNvPr>
              <p:cNvSpPr txBox="1"/>
              <p:nvPr/>
            </p:nvSpPr>
            <p:spPr>
              <a:xfrm>
                <a:off x="7135013" y="3758896"/>
                <a:ext cx="4061167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 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&gt;0∧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↦ 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&gt;0∧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&lt;0</m:t>
                      </m:r>
                    </m:oMath>
                  </m:oMathPara>
                </a14:m>
                <a:endParaRPr kumimoji="0" lang="en-IL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EC35F1-2E23-4044-540C-2103817CF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013" y="3758896"/>
                <a:ext cx="4061167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D97FFA1-52D6-7194-F858-B81B1E2F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</a:rPr>
              <a:t>Proving Satisfiability with Interpretations</a:t>
            </a:r>
            <a:endParaRPr lang="en-IL" sz="3200" b="1" dirty="0">
              <a:solidFill>
                <a:srgbClr val="1B1F3B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7134-C8FF-E59B-09F3-6D0DB2D21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Enumerating all derivations is usually infeasible.</a:t>
            </a:r>
          </a:p>
          <a:p>
            <a:pPr marL="0" indent="0">
              <a:buNone/>
            </a:pPr>
            <a:r>
              <a:rPr lang="en-US" sz="2200" dirty="0"/>
              <a:t>Instead, CHC solvers search for symbolic </a:t>
            </a:r>
            <a:r>
              <a:rPr lang="en-US" sz="2200" b="1" dirty="0">
                <a:solidFill>
                  <a:srgbClr val="FF0000"/>
                </a:solidFill>
              </a:rPr>
              <a:t>interpretations</a:t>
            </a:r>
            <a:r>
              <a:rPr lang="en-US" sz="2200" dirty="0"/>
              <a:t> of the uninterpreted predicates that satisfy all CHCs.</a:t>
            </a:r>
            <a:endParaRPr lang="en-IL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9A122-1B21-825D-D704-BF51602D2DF9}"/>
              </a:ext>
            </a:extLst>
          </p:cNvPr>
          <p:cNvSpPr txBox="1"/>
          <p:nvPr/>
        </p:nvSpPr>
        <p:spPr>
          <a:xfrm>
            <a:off x="6802292" y="5598235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Satisfying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52FCD6-7C98-7D77-6791-1F929A3C1F64}"/>
                  </a:ext>
                </a:extLst>
              </p:cNvPr>
              <p:cNvSpPr txBox="1"/>
              <p:nvPr/>
            </p:nvSpPr>
            <p:spPr>
              <a:xfrm>
                <a:off x="1459056" y="3130836"/>
                <a:ext cx="5142720" cy="2364117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=0∧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e>
                      </m:d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e>
                          </m:d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∧¬</m:t>
                          </m:r>
                          <m:d>
                            <m:dPr>
                              <m:ctrlPr>
                                <a:rPr kumimoji="0" lang="en-US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en-US" sz="22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𝑞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</m:d>
                      <m:r>
                        <a:rPr kumimoji="0" lang="en-US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→</m:t>
                      </m:r>
                      <m:d>
                        <m:dPr>
                          <m:ctrlPr>
                            <a:rPr kumimoji="0" lang="en-US" sz="2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kumimoji="0" lang="en-US" sz="2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F7D787-944D-A901-BCC6-43D87F9D8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056" y="3130836"/>
                <a:ext cx="5142720" cy="236411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D5F6DB7-BC22-F5A3-D6BE-0F0530DFA44B}"/>
              </a:ext>
            </a:extLst>
          </p:cNvPr>
          <p:cNvSpPr txBox="1"/>
          <p:nvPr/>
        </p:nvSpPr>
        <p:spPr>
          <a:xfrm>
            <a:off x="8225057" y="5611876"/>
            <a:ext cx="20237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Interpretation I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B38D12-4A6D-A250-52DE-10ED9AEF42CE}"/>
                  </a:ext>
                </a:extLst>
              </p:cNvPr>
              <p:cNvSpPr txBox="1"/>
              <p:nvPr/>
            </p:nvSpPr>
            <p:spPr>
              <a:xfrm>
                <a:off x="2955066" y="5596698"/>
                <a:ext cx="21507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Π</m:t>
                      </m:r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A6BCD4-E3DC-65B6-0A2C-B83260A0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066" y="5596698"/>
                <a:ext cx="21507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507BBDC2-662A-3C61-06DB-B25736CD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1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A5B62-6C1F-4947-0A7E-6714BBE30F79}"/>
              </a:ext>
            </a:extLst>
          </p:cNvPr>
          <p:cNvSpPr txBox="1"/>
          <p:nvPr/>
        </p:nvSpPr>
        <p:spPr>
          <a:xfrm>
            <a:off x="7060207" y="6007778"/>
            <a:ext cx="3442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I(p)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an inductive invariant!</a:t>
            </a:r>
            <a:endParaRPr kumimoji="0" lang="en-IL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10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OBJECT, SIXTY YEARS APART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Floyd’s obligations are the three CHCs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0F1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  ·  you supply Inv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init        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guard ∧ body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Inv′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¬guard        →  </a:t>
            </a:r>
            <a:r>
              <a:rPr lang="en-US" sz="20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the solver supplies 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x&gt;0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a=0 ∧ b=0 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p(x,a,b)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p(x,a,b)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a&lt;x  →  </a:t>
            </a: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p(x,a+1,b−1)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p(x,a,b)</a:t>
            </a:r>
            <a:r>
              <a:rPr lang="en-US" sz="2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∧ ¬(a&lt;x) →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a*b&lt;0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three obligations — only who produces the invariant changed.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5B097-FB2E-AACA-1D27-19B62CB2E4DA}"/>
              </a:ext>
            </a:extLst>
          </p:cNvPr>
          <p:cNvSpPr txBox="1"/>
          <p:nvPr/>
        </p:nvSpPr>
        <p:spPr>
          <a:xfrm>
            <a:off x="676141" y="1062507"/>
            <a:ext cx="83326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0000FF"/>
                </a:solidFill>
                <a:latin typeface="Cambria" pitchFamily="34" charset="0"/>
                <a:ea typeface="Cambria" pitchFamily="34" charset="-122"/>
              </a:rPr>
              <a:t>Can LLM help us find invariants?</a:t>
            </a:r>
            <a:endParaRPr lang="en-IL" sz="3400" b="1" dirty="0">
              <a:solidFill>
                <a:srgbClr val="0000FF"/>
              </a:solidFill>
              <a:latin typeface="Cambria" pitchFamily="34" charset="0"/>
              <a:ea typeface="Cambria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loop, concretely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5F64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any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63240" y="2651760"/>
            <a:ext cx="1783080" cy="0"/>
          </a:xfrm>
          <a:prstGeom prst="line">
            <a:avLst/>
          </a:prstGeom>
          <a:noFill/>
          <a:ln w="25400">
            <a:solidFill>
              <a:srgbClr val="5F6480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0632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2834640" cy="13716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80960" y="2651760"/>
            <a:ext cx="18288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9509760" y="19659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509760" y="1965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2194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63640" y="3337560"/>
            <a:ext cx="0" cy="8686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263640" y="4206240"/>
            <a:ext cx="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828800" y="4206240"/>
            <a:ext cx="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92024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 — send back the failed condition + counterexample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box is the central building block. The pale box is replaceable.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 → the same information Floyd’s checks gave a human. 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7659-B2C8-BB1C-7541-97A6072B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A984-2FE9-D25A-4D46-36AF1A95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talk presents a very limited view of what formal verification is:</a:t>
            </a:r>
            <a:br>
              <a:rPr lang="en-US" dirty="0"/>
            </a:br>
            <a:r>
              <a:rPr lang="en-US" dirty="0"/>
              <a:t>an invariant finding for proving a program correctness</a:t>
            </a:r>
          </a:p>
          <a:p>
            <a:pPr lvl="1"/>
            <a:r>
              <a:rPr lang="en-US" dirty="0"/>
              <a:t>Floyd method and solvers can handle program with much richer structures</a:t>
            </a:r>
          </a:p>
          <a:p>
            <a:pPr lvl="1"/>
            <a:r>
              <a:rPr lang="en-US" dirty="0"/>
              <a:t>More complex specifications</a:t>
            </a:r>
          </a:p>
          <a:p>
            <a:endParaRPr lang="en-US" dirty="0"/>
          </a:p>
          <a:p>
            <a:r>
              <a:rPr lang="en-US" dirty="0"/>
              <a:t>Recent works apply LLM in different ways to assist formal methods</a:t>
            </a:r>
          </a:p>
          <a:p>
            <a:pPr lvl="1"/>
            <a:r>
              <a:rPr lang="en-US" dirty="0"/>
              <a:t>NOT to replace them</a:t>
            </a:r>
          </a:p>
          <a:p>
            <a:pPr lvl="1"/>
            <a:r>
              <a:rPr lang="en-US" dirty="0"/>
              <a:t>They do not guarantee correctness unless they are checked by a formal checker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38F12-D532-130F-7BC4-E29C1107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98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7552" y="5029200"/>
            <a:ext cx="8046720" cy="0"/>
          </a:xfrm>
          <a:prstGeom prst="line">
            <a:avLst/>
          </a:prstGeom>
          <a:noFill/>
          <a:ln w="25400">
            <a:solidFill>
              <a:srgbClr val="3A4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914400" y="495604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writes it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37760" y="4956048"/>
            <a:ext cx="155448" cy="155448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84632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 finds it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0" y="4956048"/>
            <a:ext cx="155448" cy="155448"/>
          </a:xfrm>
          <a:prstGeom prst="ellipse">
            <a:avLst/>
          </a:prstGeom>
          <a:solidFill>
            <a:srgbClr val="5F648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86968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A8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guesses it — a solver still checks it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ookThemeNew">
  <a:themeElements>
    <a:clrScheme name="Custom 2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FFFF00"/>
      </a:accent2>
      <a:accent3>
        <a:srgbClr val="FF0000"/>
      </a:accent3>
      <a:accent4>
        <a:srgbClr val="008E00"/>
      </a:accent4>
      <a:accent5>
        <a:srgbClr val="45A5ED"/>
      </a:accent5>
      <a:accent6>
        <a:srgbClr val="0000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okThemeNew" id="{C82F7818-D64C-6D4A-9055-59B64CE3D983}" vid="{5E01472F-F872-6849-BC4F-4BD1C77CB78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1503</Words>
  <Application>Microsoft Office PowerPoint</Application>
  <PresentationFormat>Widescreen</PresentationFormat>
  <Paragraphs>265</Paragraphs>
  <Slides>23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Cambria</vt:lpstr>
      <vt:lpstr>Cambria Math</vt:lpstr>
      <vt:lpstr>Courier New</vt:lpstr>
      <vt:lpstr>Dosis</vt:lpstr>
      <vt:lpstr>Symbol</vt:lpstr>
      <vt:lpstr>Times New Roman</vt:lpstr>
      <vt:lpstr>Office Theme</vt:lpstr>
      <vt:lpstr>BookThemeNew</vt:lpstr>
      <vt:lpstr>PowerPoint Presentation</vt:lpstr>
      <vt:lpstr> From Program Verification to Constrained Horn Clauses</vt:lpstr>
      <vt:lpstr>Program Verification </vt:lpstr>
      <vt:lpstr>Program Verification</vt:lpstr>
      <vt:lpstr>An Example of Verification Problem </vt:lpstr>
      <vt:lpstr>Program Verification (Floyd method)</vt:lpstr>
      <vt:lpstr>Program Verification (Floyd method)</vt:lpstr>
      <vt:lpstr>Program Verification (Floyd method)</vt:lpstr>
      <vt:lpstr>Program Verification (Floyd method)</vt:lpstr>
      <vt:lpstr>PowerPoint Presentation</vt:lpstr>
      <vt:lpstr>PowerPoint Presentation</vt:lpstr>
      <vt:lpstr>Back to Program Verification</vt:lpstr>
      <vt:lpstr>Program Verification via CHCs</vt:lpstr>
      <vt:lpstr>Constrained Horn Clauses (CHCs)</vt:lpstr>
      <vt:lpstr>An Example Verification Problem</vt:lpstr>
      <vt:lpstr>An Example Verification Problem</vt:lpstr>
      <vt:lpstr>Derivations</vt:lpstr>
      <vt:lpstr>Proving Satisfiability with Interpretations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Finds the Invariant?</dc:title>
  <dc:subject>PptxGenJS Presentation</dc:subject>
  <dc:creator>Orna Grumberg</dc:creator>
  <cp:lastModifiedBy>Orna Grumberg</cp:lastModifiedBy>
  <cp:revision>91</cp:revision>
  <cp:lastPrinted>2026-07-19T15:52:46Z</cp:lastPrinted>
  <dcterms:created xsi:type="dcterms:W3CDTF">2026-07-18T08:48:08Z</dcterms:created>
  <dcterms:modified xsi:type="dcterms:W3CDTF">2026-07-25T05:44:01Z</dcterms:modified>
</cp:coreProperties>
</file>